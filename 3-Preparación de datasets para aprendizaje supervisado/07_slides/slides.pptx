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ZM99KTxHE+9cdmmyAH3sPiyu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Inicio de la clase. Presente la guía como puente entre preparación de datos y modelamiento supervisado. Insista en que el objetivo no es programar por programar, sino entender cómo un modelo aprende, se evalúa y se comunica responsablemente.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Conecte las guías anteriores: limpieza, codificación/escalamiento, selección de atributos/sesgo/balanceo. Explique que la Guía 3 empieza cuando ya tenemos un dataset razonablemente preparado.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Use un caso realista. Pregunte: ¿qué pasaría si llamamos a clientes equivocados? ¿qué pasaría si no detectamos a los que sí abandonan?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Explique que el modelo aprende a partir de ejemplos históricos. En cada fila se conoce la respuesta correcta: abandono sí/no. Compare con ejercicios resueltos.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Explique que Abandono es un problema de clasificación, no de regresión. Clase 1 será la clase positiva porque representa el evento que interesa detectar.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Dibuje en tablero: X son las columnas predictoras, y es Abandono. Recalque que ID_Cliente no predice comportamiento y Abandono no puede estar dentro de X.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Use la analogía de estudiar con ejercicios y luego presentar examen nuevo. Si entrenamos y evaluamos con lo mismo, el resultado puede ser engañoso.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Explique que fuga de información produce modelos aparentemente buenos pero inválidos. Dé ejemplos de errores comunes.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Explique que el pipeline une preprocesamiento y modelo. Muestra orden y evita que se apliquen transformaciones de forma incorrecta.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Explique que el modelo base funciona como línea de partida. Si un modelo complejo no mejora, no se justifica.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Explique las cuatro celdas: TN, FP, FN, TP. En abandono, el falso negativo es crítico: cliente que sí abandona y el modelo no detecta.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175" name="Google Shape;175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Ponga ejemplo de dataset con muchas clases 0. Un modelo que predice siempre 0 puede parecer bueno.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205" name="Google Shape;2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Conecte con negocio: llamar a clientes equivocados cuesta tiempo y dinero.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216" name="Google Shape;2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Enfatice que si el objetivo es retención, recall de clase 1 suele ser más importante que accuracy.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227" name="Google Shape;2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Explique que F1 no reemplaza la interpretación. Es una ayuda para comparar, pero se debe revisar la matriz.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238" name="Google Shape;23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Muestre que todos los modelos deben usar mismos datos, misma división y mismas métricas. Decidir por evidencia, no por moda.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249" name="Google Shape;24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90 min</a:t>
            </a:r>
            <a:br>
              <a:rPr lang="en-US"/>
            </a:br>
            <a:br>
              <a:rPr lang="en-US"/>
            </a:br>
            <a:r>
              <a:rPr lang="en-US"/>
              <a:t>Nota docente: Conecte con uso responsable de IA. El modelo puede priorizar seguimiento, pero no reemplaza el juicio humano.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266" name="Google Shape;26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Microtiempo sugerido: 20-35 min</a:t>
            </a:r>
            <a:br>
              <a:rPr lang="en-US"/>
            </a:br>
            <a:br>
              <a:rPr lang="en-US"/>
            </a:br>
            <a:r>
              <a:rPr lang="en-US"/>
              <a:t>Nota docente: Cierre con una consigna: cada equipo debe explicar qué modelo elegiría, qué métrica priorizaría y qué límite comunicaría.</a:t>
            </a:r>
            <a:br>
              <a:rPr lang="en-US"/>
            </a:br>
            <a:br>
              <a:rPr lang="en-US"/>
            </a:br>
            <a:r>
              <a:rPr lang="en-US"/>
              <a:t>Actividad guiada: explicar el concepto, mostrar un ejemplo, entregar un insumo, dar espacio de trabajo, revisar resultados, ajustar y continuar.</a:t>
            </a:r>
            <a:br>
              <a:rPr lang="en-US"/>
            </a:br>
            <a:br>
              <a:rPr lang="en-US"/>
            </a:br>
            <a:r>
              <a:rPr lang="en-US"/>
              <a:t>Pregunta de verificación: ¿qué evidencia del dataset o de las métricas permite justificar la decisión?</a:t>
            </a:r>
            <a:endParaRPr/>
          </a:p>
        </p:txBody>
      </p:sp>
      <p:sp>
        <p:nvSpPr>
          <p:cNvPr id="277" name="Google Shape;27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"/>
          <p:cNvGrpSpPr/>
          <p:nvPr/>
        </p:nvGrpSpPr>
        <p:grpSpPr>
          <a:xfrm>
            <a:off x="0" y="0"/>
            <a:ext cx="12192000" cy="1143000"/>
            <a:chOff x="0" y="0"/>
            <a:chExt cx="12192000" cy="1143000"/>
          </a:xfrm>
        </p:grpSpPr>
        <p:sp>
          <p:nvSpPr>
            <p:cNvPr id="17" name="Google Shape;17;p1"/>
            <p:cNvSpPr/>
            <p:nvPr/>
          </p:nvSpPr>
          <p:spPr>
            <a:xfrm>
              <a:off x="0" y="0"/>
              <a:ext cx="12192000" cy="1143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 txBox="1"/>
            <p:nvPr/>
          </p:nvSpPr>
          <p:spPr>
            <a:xfrm>
              <a:off x="571500" y="333375"/>
              <a:ext cx="1104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F4E79"/>
                  </a:solidFill>
                  <a:latin typeface="Arial"/>
                  <a:ea typeface="Arial"/>
                  <a:cs typeface="Arial"/>
                  <a:sym typeface="Arial"/>
                </a:rPr>
                <a:t>Guía 3 V3: El Corazón de la Predicción</a:t>
              </a:r>
              <a:endParaRPr b="1" sz="2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571500" y="762000"/>
              <a:ext cx="1104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Aprendizaje supervisado para predecir abandono de clientes</a:t>
              </a:r>
              <a:endParaRPr b="0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0;p1"/>
            <p:cNvCxnSpPr/>
            <p:nvPr/>
          </p:nvCxnSpPr>
          <p:spPr>
            <a:xfrm>
              <a:off x="571500" y="1143000"/>
              <a:ext cx="11049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" name="Google Shape;21;p1"/>
          <p:cNvGrpSpPr/>
          <p:nvPr/>
        </p:nvGrpSpPr>
        <p:grpSpPr>
          <a:xfrm>
            <a:off x="571500" y="1524000"/>
            <a:ext cx="3429000" cy="2857500"/>
            <a:chOff x="571500" y="1524000"/>
            <a:chExt cx="3429000" cy="2857500"/>
          </a:xfrm>
        </p:grpSpPr>
        <p:sp>
          <p:nvSpPr>
            <p:cNvPr id="22" name="Google Shape;22;p1"/>
            <p:cNvSpPr/>
            <p:nvPr/>
          </p:nvSpPr>
          <p:spPr>
            <a:xfrm>
              <a:off x="571500" y="1524000"/>
              <a:ext cx="3429000" cy="2857500"/>
            </a:xfrm>
            <a:prstGeom prst="roundRect">
              <a:avLst>
                <a:gd fmla="val 4000" name="adj"/>
              </a:avLst>
            </a:prstGeom>
            <a:solidFill>
              <a:srgbClr val="EAF4FB"/>
            </a:solidFill>
            <a:ln cap="flat" cmpd="sng" w="9525">
              <a:solidFill>
                <a:srgbClr val="1F4E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762000" y="177292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1F4E7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3700">
                <a:solidFill>
                  <a:srgbClr val="1F4E7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" name="Google Shape;24;p1"/>
            <p:cNvSpPr txBox="1"/>
            <p:nvPr/>
          </p:nvSpPr>
          <p:spPr>
            <a:xfrm>
              <a:off x="762000" y="23812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F4E79"/>
                  </a:solidFill>
                  <a:latin typeface="Arial"/>
                  <a:ea typeface="Arial"/>
                  <a:cs typeface="Arial"/>
                  <a:sym typeface="Arial"/>
                </a:rPr>
                <a:t>Pregunta Central</a:t>
              </a:r>
              <a:endParaRPr b="1" sz="1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¿Cómo sabemos si el dataset realmente sirve para predecir el futuro?</a:t>
              </a:r>
              <a:endParaRPr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oogle Shape;25;p1"/>
          <p:cNvGrpSpPr/>
          <p:nvPr/>
        </p:nvGrpSpPr>
        <p:grpSpPr>
          <a:xfrm>
            <a:off x="4381500" y="1524000"/>
            <a:ext cx="3429000" cy="2857500"/>
            <a:chOff x="4381500" y="1524000"/>
            <a:chExt cx="3429000" cy="2857500"/>
          </a:xfrm>
        </p:grpSpPr>
        <p:sp>
          <p:nvSpPr>
            <p:cNvPr id="26" name="Google Shape;26;p1"/>
            <p:cNvSpPr/>
            <p:nvPr/>
          </p:nvSpPr>
          <p:spPr>
            <a:xfrm>
              <a:off x="4381500" y="1524000"/>
              <a:ext cx="3429000" cy="2857500"/>
            </a:xfrm>
            <a:prstGeom prst="roundRect">
              <a:avLst>
                <a:gd fmla="val 4000" name="adj"/>
              </a:avLst>
            </a:prstGeom>
            <a:solidFill>
              <a:srgbClr val="F4FAEF"/>
            </a:solidFill>
            <a:ln cap="flat" cmpd="sng" w="9525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 txBox="1"/>
            <p:nvPr/>
          </p:nvSpPr>
          <p:spPr>
            <a:xfrm>
              <a:off x="4572000" y="177292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2E7D3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 sz="3700">
                <a:solidFill>
                  <a:srgbClr val="2E7D3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" name="Google Shape;28;p1"/>
            <p:cNvSpPr txBox="1"/>
            <p:nvPr/>
          </p:nvSpPr>
          <p:spPr>
            <a:xfrm>
              <a:off x="4572000" y="23812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B5E20"/>
                  </a:solidFill>
                  <a:latin typeface="Arial"/>
                  <a:ea typeface="Arial"/>
                  <a:cs typeface="Arial"/>
                  <a:sym typeface="Arial"/>
                </a:rPr>
                <a:t>Entregables</a:t>
              </a:r>
              <a:endParaRPr b="1" sz="1800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Notebook de desarrollo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Informe técnico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Comparativa de modelos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" name="Google Shape;29;p1"/>
          <p:cNvGrpSpPr/>
          <p:nvPr/>
        </p:nvGrpSpPr>
        <p:grpSpPr>
          <a:xfrm>
            <a:off x="8191500" y="1524000"/>
            <a:ext cx="3429000" cy="2857500"/>
            <a:chOff x="8191500" y="1524000"/>
            <a:chExt cx="3429000" cy="2857500"/>
          </a:xfrm>
        </p:grpSpPr>
        <p:sp>
          <p:nvSpPr>
            <p:cNvPr id="30" name="Google Shape;30;p1"/>
            <p:cNvSpPr/>
            <p:nvPr/>
          </p:nvSpPr>
          <p:spPr>
            <a:xfrm>
              <a:off x="8191500" y="1524000"/>
              <a:ext cx="3429000" cy="2857500"/>
            </a:xfrm>
            <a:prstGeom prst="roundRect">
              <a:avLst>
                <a:gd fmla="val 4000" name="adj"/>
              </a:avLst>
            </a:prstGeom>
            <a:solidFill>
              <a:srgbClr val="FFF4E8"/>
            </a:solidFill>
            <a:ln cap="flat" cmpd="sng" w="9525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"/>
            <p:cNvSpPr txBox="1"/>
            <p:nvPr/>
          </p:nvSpPr>
          <p:spPr>
            <a:xfrm>
              <a:off x="8382000" y="177292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00">
                  <a:solidFill>
                    <a:srgbClr val="E67E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3700">
                <a:solidFill>
                  <a:srgbClr val="E67E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" name="Google Shape;32;p1"/>
            <p:cNvSpPr txBox="1"/>
            <p:nvPr/>
          </p:nvSpPr>
          <p:spPr>
            <a:xfrm>
              <a:off x="8382000" y="2381250"/>
              <a:ext cx="3048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BF360C"/>
                  </a:solidFill>
                  <a:latin typeface="Arial"/>
                  <a:ea typeface="Arial"/>
                  <a:cs typeface="Arial"/>
                  <a:sym typeface="Arial"/>
                </a:rPr>
                <a:t>Idea Clave</a:t>
              </a:r>
              <a:endParaRPr b="1" sz="1800">
                <a:solidFill>
                  <a:srgbClr val="BF360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"No basta con ejecutar código; el valor real reside en la interpretación de los resultados."</a:t>
              </a:r>
              <a:endParaRPr i="1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p1"/>
          <p:cNvGrpSpPr/>
          <p:nvPr/>
        </p:nvGrpSpPr>
        <p:grpSpPr>
          <a:xfrm>
            <a:off x="0" y="5905500"/>
            <a:ext cx="12192000" cy="952500"/>
            <a:chOff x="0" y="5905500"/>
            <a:chExt cx="12192000" cy="952500"/>
          </a:xfrm>
        </p:grpSpPr>
        <p:sp>
          <p:nvSpPr>
            <p:cNvPr id="34" name="Google Shape;34;p1"/>
            <p:cNvSpPr/>
            <p:nvPr/>
          </p:nvSpPr>
          <p:spPr>
            <a:xfrm>
              <a:off x="0" y="5905500"/>
              <a:ext cx="12192000" cy="9525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1"/>
            <p:cNvSpPr txBox="1"/>
            <p:nvPr/>
          </p:nvSpPr>
          <p:spPr>
            <a:xfrm>
              <a:off x="571500" y="6143625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Guía 3 V3 · Aprendizaje supervisado · SENA</a:t>
              </a:r>
              <a:endPara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"/>
            <p:cNvSpPr txBox="1"/>
            <p:nvPr/>
          </p:nvSpPr>
          <p:spPr>
            <a:xfrm>
              <a:off x="10477500" y="6143625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Página 1</a:t>
              </a:r>
              <a:endPara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571500" y="381000"/>
            <a:ext cx="1104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Ruta Completa de Aprendizaje</a:t>
            </a:r>
            <a:endParaRPr b="1" i="0" sz="2960">
              <a:solidFill>
                <a:srgbClr val="1F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71500" y="857250"/>
            <a:ext cx="11049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Continuidad técnica: Evolución de datos hacia la inteligencia artificial</a:t>
            </a:r>
            <a:endParaRPr b="0" i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52500" y="2286000"/>
            <a:ext cx="10287000" cy="3810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71500" y="1571625"/>
            <a:ext cx="2000100" cy="1428900"/>
          </a:xfrm>
          <a:prstGeom prst="rect">
            <a:avLst/>
          </a:prstGeom>
          <a:solidFill>
            <a:srgbClr val="EAF4FB"/>
          </a:solidFill>
          <a:ln cap="flat" cmpd="sng" w="95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Guía 0</a:t>
            </a:r>
            <a:endParaRPr b="1" sz="1400">
              <a:solidFill>
                <a:srgbClr val="1F4E7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Limpieza de Datos</a:t>
            </a:r>
            <a:endParaRPr b="0" sz="1400">
              <a:solidFill>
                <a:srgbClr val="0B1F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62250" y="1571625"/>
            <a:ext cx="2000100" cy="1428900"/>
          </a:xfrm>
          <a:prstGeom prst="rect">
            <a:avLst/>
          </a:prstGeom>
          <a:solidFill>
            <a:srgbClr val="F4FAEF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Guía 1</a:t>
            </a:r>
            <a:endParaRPr b="1" sz="1400">
              <a:solidFill>
                <a:srgbClr val="2E7D3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Codificación y Escalamiento</a:t>
            </a:r>
            <a:endParaRPr b="0" sz="1400">
              <a:solidFill>
                <a:srgbClr val="0B1F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953000" y="1571625"/>
            <a:ext cx="2000100" cy="1428900"/>
          </a:xfrm>
          <a:prstGeom prst="rect">
            <a:avLst/>
          </a:prstGeom>
          <a:solidFill>
            <a:srgbClr val="FFF4E8"/>
          </a:solidFill>
          <a:ln cap="flat" cmpd="sng" w="95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Guía 2</a:t>
            </a:r>
            <a:endParaRPr b="1" sz="1400">
              <a:solidFill>
                <a:srgbClr val="E67E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Sesgo y Balanceo</a:t>
            </a:r>
            <a:endParaRPr b="0" sz="1400">
              <a:solidFill>
                <a:srgbClr val="0B1F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334500" y="1571625"/>
            <a:ext cx="2000100" cy="1428900"/>
          </a:xfrm>
          <a:prstGeom prst="rect">
            <a:avLst/>
          </a:prstGeom>
          <a:solidFill>
            <a:srgbClr val="EDE7F6"/>
          </a:solidFill>
          <a:ln cap="flat" cmpd="sng" w="95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73AB7"/>
                </a:solidFill>
                <a:latin typeface="Arial"/>
                <a:ea typeface="Arial"/>
                <a:cs typeface="Arial"/>
                <a:sym typeface="Arial"/>
              </a:rPr>
              <a:t>Guía 4</a:t>
            </a:r>
            <a:endParaRPr b="1" sz="1400">
              <a:solidFill>
                <a:srgbClr val="673AB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Aprendizaje No Supervisado</a:t>
            </a:r>
            <a:endParaRPr b="0" sz="1400">
              <a:solidFill>
                <a:srgbClr val="0B1F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62000" y="3619500"/>
            <a:ext cx="10668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1F4E7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layers</a:t>
            </a:r>
            <a:r>
              <a:rPr b="1" lang="en-US" sz="153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Capa técnica progresiva:</a:t>
            </a:r>
            <a:r>
              <a:rPr lang="en-US" sz="153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Cada etapa construye sobre la anterior, agregando complejidad y valor al proceso de datos.</a:t>
            </a:r>
            <a:endParaRPr sz="153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C0392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database</a:t>
            </a:r>
            <a:r>
              <a:rPr b="1" lang="en-US" sz="153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Punto de partida avanzado:</a:t>
            </a:r>
            <a:r>
              <a:rPr lang="en-US" sz="153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En la Guía 3 no empezamos de cero; trabajamos con datos previamente limpios y estructurados.</a:t>
            </a:r>
            <a:endParaRPr sz="153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E67E2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psychology</a:t>
            </a:r>
            <a:r>
              <a:rPr b="1" lang="en-US" sz="153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Objetivo estratégico:</a:t>
            </a:r>
            <a:r>
              <a:rPr lang="en-US" sz="153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El foco ahora trasciende el código para centrarse en </a:t>
            </a:r>
            <a:r>
              <a:rPr b="1" lang="en-US" sz="153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entrenar, evaluar e interpretar</a:t>
            </a:r>
            <a:r>
              <a:rPr lang="en-US" sz="153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resultados de negocio.</a:t>
            </a:r>
            <a:endParaRPr sz="153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71500" y="6334125"/>
            <a:ext cx="762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9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668000" y="6334125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Página 2</a:t>
            </a:r>
            <a:endParaRPr sz="9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406640" y="1783080"/>
            <a:ext cx="1645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Guía 3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supervisados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Situación problema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Una empresa quiere anticipar abandono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El área comercial quiere detectar clientes en riesgo.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El dataset contiene comportamiento, satisfacción, segmento y abandono.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La tarea no es adivinar: es construir evidencia con modelos y métricas.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¿Qué es aprendizaje supervisado?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Aprender con ejemplos que ya tienen respuesta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4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4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97280" y="1508760"/>
            <a:ext cx="2743200" cy="1143000"/>
          </a:xfrm>
          <a:prstGeom prst="rect">
            <a:avLst/>
          </a:prstGeom>
          <a:solidFill>
            <a:srgbClr val="EAF4FB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234440" y="164592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Datos históricos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(clientes conocidos)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709160" y="1508760"/>
            <a:ext cx="2651760" cy="1143000"/>
          </a:xfrm>
          <a:prstGeom prst="rect">
            <a:avLst/>
          </a:prstGeom>
          <a:solidFill>
            <a:srgbClr val="FFF4E8"/>
          </a:solidFill>
          <a:ln cap="flat" cmpd="sng" w="152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846320" y="164592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Modelo aprende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patrones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229600" y="1508760"/>
            <a:ext cx="2743200" cy="1143000"/>
          </a:xfrm>
          <a:prstGeom prst="rect">
            <a:avLst/>
          </a:prstGeom>
          <a:solidFill>
            <a:srgbClr val="F4FAEF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366760" y="164592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Predice casos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nuevos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3931920" y="2075688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0B1F3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" name="Google Shape;82;p4"/>
          <p:cNvCxnSpPr/>
          <p:nvPr/>
        </p:nvCxnSpPr>
        <p:spPr>
          <a:xfrm>
            <a:off x="7452360" y="2075688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0B1F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" name="Google Shape;83;p4"/>
          <p:cNvSpPr/>
          <p:nvPr/>
        </p:nvSpPr>
        <p:spPr>
          <a:xfrm>
            <a:off x="1097280" y="3246120"/>
            <a:ext cx="9875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El modelo necesita ejemplos con respuesta conocida.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En esta guía la respuesta conocida es Abandono.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La meta es generalizar a clientes nuevos.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Clasificación binaria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Abandono tiene dos clases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5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5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828800" y="1600200"/>
            <a:ext cx="3017520" cy="1280160"/>
          </a:xfrm>
          <a:prstGeom prst="rect">
            <a:avLst/>
          </a:prstGeom>
          <a:solidFill>
            <a:srgbClr val="F4FAEF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1965960" y="173736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Abandono = 0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No abandonó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040880" y="1600200"/>
            <a:ext cx="3017520" cy="1280160"/>
          </a:xfrm>
          <a:prstGeom prst="rect">
            <a:avLst/>
          </a:prstGeom>
          <a:solidFill>
            <a:srgbClr val="FCEC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178040" y="173736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Abandono = 1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Sí abandonó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371600" y="3474720"/>
            <a:ext cx="95097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La clase 1 es la clase positiva.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Detectar clase 1 suele ser clave para retención.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Los errores no tienen el mismo impacto de negocio.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X e 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Entradas y respuesta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6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005840" y="1371600"/>
            <a:ext cx="4663440" cy="1554480"/>
          </a:xfrm>
          <a:prstGeom prst="rect">
            <a:avLst/>
          </a:prstGeom>
          <a:solidFill>
            <a:srgbClr val="EAF4FB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143000" y="150876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Variables predictoras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Edad, quejas, compras, satisfacción...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583680" y="1371600"/>
            <a:ext cx="4297680" cy="1554480"/>
          </a:xfrm>
          <a:prstGeom prst="rect">
            <a:avLst/>
          </a:prstGeom>
          <a:solidFill>
            <a:srgbClr val="FCEC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720840" y="150876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Variable objetivo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Abandono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97280" y="3429000"/>
            <a:ext cx="9784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ID_Cliente no se usa como predictor.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Abandono nunca debe estar dentro de X.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Separar X e y evita confusiones técnicas.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Entrenamiento y prueba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Estudiar no es presentar el examen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7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7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371600" y="1463040"/>
            <a:ext cx="3931920" cy="1280160"/>
          </a:xfrm>
          <a:prstGeom prst="rect">
            <a:avLst/>
          </a:prstGeom>
          <a:solidFill>
            <a:srgbClr val="EAF4FB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508760" y="160020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Entrenamiento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El modelo aprende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766560" y="1463040"/>
            <a:ext cx="3931920" cy="1280160"/>
          </a:xfrm>
          <a:prstGeom prst="rect">
            <a:avLst/>
          </a:prstGeom>
          <a:solidFill>
            <a:srgbClr val="F4FAEF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903720" y="160020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Prueba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El modelo se evalúa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234440" y="329184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Entrenar = estudiar con ejemplos resueltos.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Probar = examen con casos nuevos.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Evaluar con entrenamiento puede inflar resultados.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Fuga de información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El error silencioso que da resultados falsamente buenos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8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8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Usar Abandono dentro de X.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Escalar o codificar antes de dividir train/test.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Ajustar decisiones mirando el conjunto de prueba.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Una receta reproducible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9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9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731520" y="1508760"/>
            <a:ext cx="2011680" cy="914400"/>
          </a:xfrm>
          <a:prstGeom prst="rect">
            <a:avLst/>
          </a:prstGeom>
          <a:solidFill>
            <a:srgbClr val="EAF4FB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868680" y="1645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numéricas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926080" y="1508760"/>
            <a:ext cx="2011680" cy="914400"/>
          </a:xfrm>
          <a:prstGeom prst="rect">
            <a:avLst/>
          </a:prstGeom>
          <a:solidFill>
            <a:srgbClr val="F4FAEF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3063240" y="1645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ordinales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120640" y="1508760"/>
            <a:ext cx="2011680" cy="914400"/>
          </a:xfrm>
          <a:prstGeom prst="rect">
            <a:avLst/>
          </a:prstGeom>
          <a:solidFill>
            <a:srgbClr val="FFF4E8"/>
          </a:solidFill>
          <a:ln cap="flat" cmpd="sng" w="152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5257800" y="1645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nominales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315200" y="1508760"/>
            <a:ext cx="2011680" cy="914400"/>
          </a:xfrm>
          <a:prstGeom prst="rect">
            <a:avLst/>
          </a:prstGeom>
          <a:solidFill>
            <a:srgbClr val="FCECEC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7452360" y="164592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Preprocesador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+ Modelo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9509760" y="1508760"/>
            <a:ext cx="1828800" cy="914400"/>
          </a:xfrm>
          <a:prstGeom prst="rect">
            <a:avLst/>
          </a:prstGeom>
          <a:solidFill>
            <a:srgbClr val="EDE7F6"/>
          </a:solidFill>
          <a:ln cap="flat" cmpd="sng" w="15225">
            <a:solidFill>
              <a:srgbClr val="673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9646920" y="16459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Predicción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14400" y="3246120"/>
            <a:ext cx="10515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El pipeline mantiene el orden correcto.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Hace el proceso reproducible.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Reduce errores de fuga de información.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Primer modelo base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Punto de comparación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10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0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Sirve como referencia inicial.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No tiene que ser perfecto.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Permite saber si otros modelos realmente mejoran.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/>
          <p:nvPr/>
        </p:nvSpPr>
        <p:spPr>
          <a:xfrm>
            <a:off x="502920" y="2560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Matriz de confusión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12064" y="731520"/>
            <a:ext cx="10972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Entender aciertos y errores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502920" y="6510528"/>
            <a:ext cx="822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1247120" y="6510528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11"/>
          <p:cNvGrpSpPr/>
          <p:nvPr/>
        </p:nvGrpSpPr>
        <p:grpSpPr>
          <a:xfrm>
            <a:off x="762000" y="1333500"/>
            <a:ext cx="8382000" cy="3238500"/>
            <a:chOff x="762000" y="1333500"/>
            <a:chExt cx="8382000" cy="3238500"/>
          </a:xfrm>
        </p:grpSpPr>
        <p:sp>
          <p:nvSpPr>
            <p:cNvPr id="182" name="Google Shape;182;p11"/>
            <p:cNvSpPr/>
            <p:nvPr/>
          </p:nvSpPr>
          <p:spPr>
            <a:xfrm>
              <a:off x="3238500" y="1333500"/>
              <a:ext cx="2857500" cy="571500"/>
            </a:xfrm>
            <a:prstGeom prst="roundRect">
              <a:avLst>
                <a:gd fmla="val 13333" name="adj"/>
              </a:avLst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1"/>
            <p:cNvSpPr txBox="1"/>
            <p:nvPr/>
          </p:nvSpPr>
          <p:spPr>
            <a:xfrm>
              <a:off x="3238500" y="1333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Predice 0 (No Abandona)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6286500" y="1333500"/>
              <a:ext cx="2857500" cy="571500"/>
            </a:xfrm>
            <a:prstGeom prst="roundRect">
              <a:avLst>
                <a:gd fmla="val 13333" name="adj"/>
              </a:avLst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1"/>
            <p:cNvSpPr txBox="1"/>
            <p:nvPr/>
          </p:nvSpPr>
          <p:spPr>
            <a:xfrm>
              <a:off x="6286500" y="1333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Predice 1 (Abandona)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62000" y="2095500"/>
              <a:ext cx="2286000" cy="1143000"/>
            </a:xfrm>
            <a:prstGeom prst="roundRect">
              <a:avLst>
                <a:gd fmla="val 6666" name="adj"/>
              </a:avLst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1"/>
            <p:cNvSpPr txBox="1"/>
            <p:nvPr/>
          </p:nvSpPr>
          <p:spPr>
            <a:xfrm>
              <a:off x="762000" y="209550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Real 0</a:t>
              </a:r>
              <a:b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(No Abandono)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3238500" y="2095500"/>
              <a:ext cx="2857500" cy="11430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1"/>
            <p:cNvSpPr txBox="1"/>
            <p:nvPr/>
          </p:nvSpPr>
          <p:spPr>
            <a:xfrm>
              <a:off x="3238500" y="2095500"/>
              <a:ext cx="285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TN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Acierto no abandono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6286500" y="2095500"/>
              <a:ext cx="2857500" cy="11430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 txBox="1"/>
            <p:nvPr/>
          </p:nvSpPr>
          <p:spPr>
            <a:xfrm>
              <a:off x="6286500" y="2095500"/>
              <a:ext cx="285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FP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Falsa alarma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762000" y="3429000"/>
              <a:ext cx="2286000" cy="1143000"/>
            </a:xfrm>
            <a:prstGeom prst="roundRect">
              <a:avLst>
                <a:gd fmla="val 6666" name="adj"/>
              </a:avLst>
            </a:prstGeom>
            <a:solidFill>
              <a:srgbClr val="1F4E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 txBox="1"/>
            <p:nvPr/>
          </p:nvSpPr>
          <p:spPr>
            <a:xfrm>
              <a:off x="762000" y="3429000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Real 1</a:t>
              </a:r>
              <a:b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(Abandono)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3238500" y="3429000"/>
              <a:ext cx="2857500" cy="1143000"/>
            </a:xfrm>
            <a:prstGeom prst="roundRect">
              <a:avLst>
                <a:gd fmla="val 6666" name="adj"/>
              </a:avLst>
            </a:prstGeom>
            <a:solidFill>
              <a:srgbClr val="FEF2F2"/>
            </a:solidFill>
            <a:ln cap="flat" cmpd="sng" w="2857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1"/>
            <p:cNvSpPr txBox="1"/>
            <p:nvPr/>
          </p:nvSpPr>
          <p:spPr>
            <a:xfrm>
              <a:off x="3238500" y="3429000"/>
              <a:ext cx="285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FN</a:t>
              </a:r>
              <a:endParaRPr b="1" sz="22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Se escapó un abandono</a:t>
              </a:r>
              <a:endParaRPr b="1" sz="14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6286500" y="3429000"/>
              <a:ext cx="2857500" cy="11430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 txBox="1"/>
            <p:nvPr/>
          </p:nvSpPr>
          <p:spPr>
            <a:xfrm>
              <a:off x="6286500" y="3429000"/>
              <a:ext cx="2857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TP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Detectó abandono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11"/>
          <p:cNvGrpSpPr/>
          <p:nvPr/>
        </p:nvGrpSpPr>
        <p:grpSpPr>
          <a:xfrm>
            <a:off x="762000" y="4953000"/>
            <a:ext cx="10668000" cy="999236"/>
            <a:chOff x="762000" y="4953000"/>
            <a:chExt cx="10668000" cy="999236"/>
          </a:xfrm>
        </p:grpSpPr>
        <p:sp>
          <p:nvSpPr>
            <p:cNvPr id="199" name="Google Shape;199;p11"/>
            <p:cNvSpPr/>
            <p:nvPr/>
          </p:nvSpPr>
          <p:spPr>
            <a:xfrm>
              <a:off x="762000" y="4953000"/>
              <a:ext cx="10668000" cy="952500"/>
            </a:xfrm>
            <a:prstGeom prst="roundRect">
              <a:avLst>
                <a:gd fmla="val 12000" name="adj"/>
              </a:avLst>
            </a:prstGeom>
            <a:solidFill>
              <a:srgbClr val="FFF1F0"/>
            </a:solidFill>
            <a:ln cap="flat" cmpd="sng" w="9525">
              <a:solidFill>
                <a:srgbClr val="FF4D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1"/>
            <p:cNvSpPr txBox="1"/>
            <p:nvPr/>
          </p:nvSpPr>
          <p:spPr>
            <a:xfrm>
              <a:off x="952500" y="4999736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392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3200">
                <a:solidFill>
                  <a:srgbClr val="C0392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1" name="Google Shape;201;p11"/>
            <p:cNvSpPr txBox="1"/>
            <p:nvPr/>
          </p:nvSpPr>
          <p:spPr>
            <a:xfrm>
              <a:off x="1619250" y="4953000"/>
              <a:ext cx="9620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C0392B"/>
                  </a:solidFill>
                  <a:latin typeface="Arial"/>
                  <a:ea typeface="Arial"/>
                  <a:cs typeface="Arial"/>
                  <a:sym typeface="Arial"/>
                </a:rPr>
                <a:t>En abandono, el </a:t>
              </a:r>
              <a:r>
                <a:rPr b="1" lang="en-US" sz="1800" u="sng">
                  <a:solidFill>
                    <a:srgbClr val="C0392B"/>
                  </a:solidFill>
                  <a:latin typeface="Arial"/>
                  <a:ea typeface="Arial"/>
                  <a:cs typeface="Arial"/>
                  <a:sym typeface="Arial"/>
                </a:rPr>
                <a:t>FN suele ser crítico</a:t>
              </a:r>
              <a:r>
                <a:rPr b="1" lang="en-US" sz="1800">
                  <a:solidFill>
                    <a:srgbClr val="C0392B"/>
                  </a:solidFill>
                  <a:latin typeface="Arial"/>
                  <a:ea typeface="Arial"/>
                  <a:cs typeface="Arial"/>
                  <a:sym typeface="Arial"/>
                </a:rPr>
                <a:t>: el cliente sí abandona y el modelo no lo detecta.</a:t>
              </a:r>
              <a:endParaRPr b="1" sz="18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Útil, pero puede engañar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2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2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Mide aciertos totales.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Puede ser alta aunque el modelo falle en la clase importante.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No debe ser la única métrica.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¿Cuántas alertas positivas fueron correctas?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3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3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Alta precision: pocas falsas alarmas.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Baja precision: muchas alertas de abandono son equivocadas.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Importa cuando intervenir tiene costo.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¿Cuántos abandonos reales detectamos?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14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4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Alto recall: detecta la mayoría de clientes que abandonan.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Bajo recall: se escapan clientes en riesgo.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En abandono suele ser una métrica prioritaria.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Equilibrio entre precision y recall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5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5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Combina precision y recall.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Útil cuando ambas métricas importan.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Ayuda a comparar modelos con una sola medida equilibrada.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Comparar modelos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Decidir con evidencia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16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6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1371600" y="1417320"/>
            <a:ext cx="2468880" cy="1143000"/>
          </a:xfrm>
          <a:prstGeom prst="rect">
            <a:avLst/>
          </a:prstGeom>
          <a:solidFill>
            <a:srgbClr val="EAF4FB"/>
          </a:solidFill>
          <a:ln cap="flat" cmpd="sng" w="1522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150876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Regresión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logística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4846320" y="1417320"/>
            <a:ext cx="2468880" cy="1143000"/>
          </a:xfrm>
          <a:prstGeom prst="rect">
            <a:avLst/>
          </a:prstGeom>
          <a:solidFill>
            <a:srgbClr val="FFF4E8"/>
          </a:solidFill>
          <a:ln cap="flat" cmpd="sng" w="152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498348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Árbol de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8321040" y="1417320"/>
            <a:ext cx="2468880" cy="1143000"/>
          </a:xfrm>
          <a:prstGeom prst="rect">
            <a:avLst/>
          </a:prstGeom>
          <a:solidFill>
            <a:srgbClr val="F4FAEF"/>
          </a:solidFill>
          <a:ln cap="flat" cmpd="sng" w="152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845820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Bosque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aleatorio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1097280" y="3246120"/>
            <a:ext cx="9875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Mismos datos de entrenamiento y prueba.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Mismas métricas para comparar.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Se elige con evidencia y justificación técnica.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Ética y revisión humana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El modelo apoya, no decide solo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7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7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Las predicciones pueden tener errores.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Debe documentarse el uso de IA y sus límites.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La decisión final requiere criterio humano.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Actividad guiada y cierre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512064" y="731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 la teoría al notebook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18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8"/>
          <p:cNvSpPr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Guía 3 V3 · Aprendizaje supervisado · SENA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11247120" y="651052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Cargar dataset y separar X/y.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Entrenar modelos con pipeline.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Leer matriz de confusión y métricas.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Redactar conclusión técnica y limitación.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2026-05-25T12:40:10Z</dcterms:created>
  <dc:creator>SENA - Material docente</dc:creator>
</cp:coreProperties>
</file>